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notesMasterIdLst>
    <p:notesMasterId r:id="rId17"/>
  </p:notesMasterIdLst>
  <p:sldIdLst>
    <p:sldId id="256" r:id="rId2"/>
    <p:sldId id="264" r:id="rId3"/>
    <p:sldId id="258" r:id="rId4"/>
    <p:sldId id="272" r:id="rId5"/>
    <p:sldId id="261" r:id="rId6"/>
    <p:sldId id="273" r:id="rId7"/>
    <p:sldId id="265" r:id="rId8"/>
    <p:sldId id="259" r:id="rId9"/>
    <p:sldId id="267" r:id="rId10"/>
    <p:sldId id="260" r:id="rId11"/>
    <p:sldId id="274" r:id="rId12"/>
    <p:sldId id="262" r:id="rId13"/>
    <p:sldId id="275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640000"/>
    <a:srgbClr val="A90000"/>
    <a:srgbClr val="E9A5D7"/>
    <a:srgbClr val="DB2DDF"/>
    <a:srgbClr val="9E009E"/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6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E1EB9-23C9-4AF8-8347-081AD64D40E4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D6A1D-CF45-4E89-8F06-274C80F69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69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6A1D-CF45-4E89-8F06-274C80F6937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09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155" y="1845489"/>
            <a:ext cx="9700727" cy="1441205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t" anchorCtr="1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sz="4400" b="1" cap="none" dirty="0" err="1">
                <a:ln/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ReWear</a:t>
            </a:r>
            <a:r>
              <a:rPr sz="4400" b="1" cap="none" dirty="0">
                <a:ln/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Community-Based Clothing Exchange and Reuse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3568" y="3429000"/>
            <a:ext cx="8562772" cy="2204127"/>
          </a:xfrm>
        </p:spPr>
        <p:txBody>
          <a:bodyPr wrap="square" lIns="0" tIns="0" rIns="0" bIns="0">
            <a:normAutofit fontScale="92500" lnSpcReduction="20000"/>
          </a:bodyPr>
          <a:lstStyle/>
          <a:p>
            <a:endParaRPr dirty="0"/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b="1" dirty="0">
                <a:solidFill>
                  <a:srgbClr val="00206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SECTION: 10        CLUSTER – 3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b="1" dirty="0">
                <a:solidFill>
                  <a:srgbClr val="00206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Group - 14</a:t>
            </a:r>
          </a:p>
          <a:p>
            <a:endParaRPr sz="1400" dirty="0">
              <a:latin typeface="Arial"/>
            </a:endParaRPr>
          </a:p>
          <a:p>
            <a:pPr algn="ctr"/>
            <a:r>
              <a:rPr sz="2200" dirty="0">
                <a:solidFill>
                  <a:srgbClr val="64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2420030287 – Gorantla Divya Sree</a:t>
            </a:r>
          </a:p>
          <a:p>
            <a:pPr algn="ctr"/>
            <a:r>
              <a:rPr sz="2200" dirty="0">
                <a:solidFill>
                  <a:srgbClr val="64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2420030400 – Masuma Fathema</a:t>
            </a:r>
          </a:p>
          <a:p>
            <a:pPr algn="ctr"/>
            <a:r>
              <a:rPr sz="2200" dirty="0">
                <a:solidFill>
                  <a:srgbClr val="64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2420030568 – Avinash </a:t>
            </a:r>
            <a:r>
              <a:rPr sz="2200" dirty="0" err="1">
                <a:solidFill>
                  <a:srgbClr val="64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Yarukala</a:t>
            </a:r>
            <a:endParaRPr sz="2200" dirty="0">
              <a:solidFill>
                <a:srgbClr val="640000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017E2A-1074-18E5-259A-42C9526F030C}"/>
              </a:ext>
            </a:extLst>
          </p:cNvPr>
          <p:cNvSpPr txBox="1"/>
          <p:nvPr/>
        </p:nvSpPr>
        <p:spPr>
          <a:xfrm>
            <a:off x="3272519" y="5775433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Under the guidance of:</a:t>
            </a:r>
          </a:p>
          <a:p>
            <a:pPr algn="ctr"/>
            <a:r>
              <a:rPr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G. Lavanya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929" y="1079482"/>
            <a:ext cx="11174139" cy="5071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 err="1">
                <a:latin typeface="Aptos Display" panose="020B0004020202020204" pitchFamily="34" charset="0"/>
              </a:rPr>
              <a:t>R</a:t>
            </a:r>
            <a:r>
              <a:rPr sz="2400" dirty="0" err="1">
                <a:latin typeface="Aptos Display" panose="020B0004020202020204" pitchFamily="34" charset="0"/>
              </a:rPr>
              <a:t>eWear</a:t>
            </a:r>
            <a:r>
              <a:rPr sz="2400" dirty="0">
                <a:latin typeface="Aptos Display" panose="020B0004020202020204" pitchFamily="34" charset="0"/>
              </a:rPr>
              <a:t> is a web-based platform that promotes sustainable fashion by helping people exchange, donate, and reuse pre-owned clothing.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Users can register and upload clothing listings with images, category, size, condition, and availability.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Users can browse, search, and filter available items.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An exchange request feature helps users request items and track request status.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An admin dashboard supports listing moderation and user activity management.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The platform encourages clothing reuse, reduces textile waste, and makes clothing more accessible.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EXISTING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1019734" y="1249582"/>
            <a:ext cx="10152529" cy="3763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latin typeface="Aptos Display" panose="020B0004020202020204" pitchFamily="34" charset="0"/>
              </a:rPr>
              <a:t>Current approach to clothing reuse: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Clothing exchanges often happen through informal groups or in-person networks.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Listings and item details may be scattered across different platforms.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Finding suitable sizes, categories, and item conditions can take time.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Requests and exchange arrangements may be tracked manually.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There may be limited tools for managing listings and reported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27BD-2482-7B15-64A2-CACE400F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78925C1-F82F-32ED-EA0B-04E90D03AEE4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7B534-6D76-741D-816B-8751A9B4FBE4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EXISTING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9E2F0C-E580-E829-177D-645F07CEEADB}"/>
              </a:ext>
            </a:extLst>
          </p:cNvPr>
          <p:cNvSpPr txBox="1"/>
          <p:nvPr/>
        </p:nvSpPr>
        <p:spPr>
          <a:xfrm>
            <a:off x="1019734" y="1201176"/>
            <a:ext cx="10152529" cy="3917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b="1" dirty="0">
                <a:latin typeface="Aptos Display" panose="020B0004020202020204" pitchFamily="34" charset="0"/>
              </a:rPr>
              <a:t>Limitations of the existing approach: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Scattered clothing listings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Time-consuming item discovery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Limited search and filtering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Manual exchange coordination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Difficult to track request status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Limited moderation of listings and user activity</a:t>
            </a:r>
          </a:p>
        </p:txBody>
      </p:sp>
    </p:spTree>
    <p:extLst>
      <p:ext uri="{BB962C8B-B14F-4D97-AF65-F5344CB8AC3E}">
        <p14:creationId xmlns:p14="http://schemas.microsoft.com/office/powerpoint/2010/main" val="920890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  <a:latin typeface="Arial"/>
              </a:defRPr>
            </a:lvl1pPr>
          </a:lstStyle>
          <a:p>
            <a:r>
              <a:t>PROPOSED MODEL &amp; USES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5780B-5EE2-C2D1-3F70-5A53E07753B1}"/>
              </a:ext>
            </a:extLst>
          </p:cNvPr>
          <p:cNvSpPr txBox="1"/>
          <p:nvPr/>
        </p:nvSpPr>
        <p:spPr>
          <a:xfrm>
            <a:off x="1042600" y="1046000"/>
            <a:ext cx="11149400" cy="447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i="1" dirty="0" err="1">
                <a:latin typeface="Aptos Display" panose="020B0004020202020204" pitchFamily="34" charset="0"/>
              </a:rPr>
              <a:t>ReWear</a:t>
            </a:r>
            <a:r>
              <a:rPr sz="2400" i="1" dirty="0">
                <a:latin typeface="Aptos Display" panose="020B0004020202020204" pitchFamily="34" charset="0"/>
              </a:rPr>
              <a:t> provides a centralized platform for clothing exchange and reuse.</a:t>
            </a:r>
          </a:p>
          <a:p>
            <a:pPr algn="just">
              <a:lnSpc>
                <a:spcPct val="150000"/>
              </a:lnSpc>
            </a:pPr>
            <a:r>
              <a:rPr sz="2400" b="1" dirty="0">
                <a:latin typeface="Aptos Display" panose="020B0004020202020204" pitchFamily="34" charset="0"/>
              </a:rPr>
              <a:t>Uses: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Register and manage user accounts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Upload clothing listings with images and details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Browse, search, and filter available items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Send exchange requests and track statuses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Manage listings and reported content through an admin dashboard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Encourage sustainable consumption and reduce textile waste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49498" y="282162"/>
            <a:ext cx="6903720" cy="646986"/>
          </a:xfrm>
          <a:prstGeom prst="round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/>
          <a:p>
            <a:pPr algn="ctr"/>
            <a:r>
              <a:rPr sz="3200" b="1" dirty="0">
                <a:solidFill>
                  <a:schemeClr val="bg1"/>
                </a:solidFill>
                <a:latin typeface="Arial"/>
              </a:rPr>
              <a:t>KEY FEATURES OF REWEAR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8402" y="1494012"/>
            <a:ext cx="3520440" cy="205740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8402" y="1494012"/>
            <a:ext cx="82296" cy="2057400"/>
          </a:xfrm>
          <a:prstGeom prst="rect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9569" y="1603740"/>
            <a:ext cx="317296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00070"/>
                </a:solidFill>
                <a:latin typeface="Arial"/>
              </a:defRPr>
            </a:pPr>
            <a:r>
              <a:t>1. User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569" y="2060940"/>
            <a:ext cx="3172968" cy="139903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Register and log in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Manage a personal profile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Access listing and request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1722" y="1494012"/>
            <a:ext cx="3520440" cy="205740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41722" y="1494012"/>
            <a:ext cx="82296" cy="2057400"/>
          </a:xfrm>
          <a:prstGeom prst="rect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2890" y="1603740"/>
            <a:ext cx="317296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00070"/>
                </a:solidFill>
                <a:latin typeface="Arial"/>
              </a:defRPr>
            </a:pPr>
            <a:r>
              <a:t>2. Clothing Listings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2890" y="2060940"/>
            <a:ext cx="3172968" cy="139903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Upload item images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Add category, size and condition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Edit or remove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5042" y="1494012"/>
            <a:ext cx="3520440" cy="205740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45042" y="1494012"/>
            <a:ext cx="82296" cy="2057400"/>
          </a:xfrm>
          <a:prstGeom prst="rect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6210" y="1603740"/>
            <a:ext cx="317296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00070"/>
                </a:solidFill>
                <a:latin typeface="Arial"/>
              </a:defRPr>
            </a:pPr>
            <a:r>
              <a:t>3. Discover 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6210" y="2060940"/>
            <a:ext cx="3172968" cy="139903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Browse available clothing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Search and filter listings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View item details before requesting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7202" y="3871452"/>
            <a:ext cx="3520440" cy="205740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67202" y="3871452"/>
            <a:ext cx="82296" cy="205740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68370" y="3981180"/>
            <a:ext cx="317296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4. Exchange Requests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68370" y="4438380"/>
            <a:ext cx="3172968" cy="139903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Send a request for an item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Track request status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• Coordinate with the item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0522" y="3871452"/>
            <a:ext cx="3520440" cy="205740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0522" y="3871452"/>
            <a:ext cx="82296" cy="205740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1690" y="3981180"/>
            <a:ext cx="317296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5. Admin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1690" y="4438380"/>
            <a:ext cx="3172968" cy="139903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Review reported content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Manage listings and user activity</a:t>
            </a:r>
          </a:p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rPr dirty="0"/>
              <a:t>• Support a reliable community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96548" y="245736"/>
            <a:ext cx="6811346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424" y="997660"/>
            <a:ext cx="10653152" cy="4009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1: USER REGISTRATION &amp; CLOTHING LISTING</a:t>
            </a:r>
          </a:p>
          <a:p>
            <a:pPr algn="just">
              <a:lnSpc>
                <a:spcPct val="150000"/>
              </a:lnSpc>
            </a:pPr>
            <a:r>
              <a:rPr sz="2600" b="1" dirty="0">
                <a:latin typeface="Aptos Display" panose="020B0004020202020204" pitchFamily="34" charset="0"/>
              </a:rPr>
              <a:t>Step 1: Create an account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Users register and access the platform.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Add a clothing listing with image, category, size, condition, and availability.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Store listing information in the MySQL database.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Save uploaded images in local image storage.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Output: Published clothing listing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15208" y="193965"/>
            <a:ext cx="6816719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858D4-62A7-55F9-0711-1B063FF1817B}"/>
              </a:ext>
            </a:extLst>
          </p:cNvPr>
          <p:cNvSpPr txBox="1"/>
          <p:nvPr/>
        </p:nvSpPr>
        <p:spPr>
          <a:xfrm>
            <a:off x="3519149" y="864851"/>
            <a:ext cx="6096000" cy="63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2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2: DISCOVERY &amp; EXCHANGE REQUESTS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0EB8BD-1041-2E42-19AC-C41D58AD9D2A}"/>
              </a:ext>
            </a:extLst>
          </p:cNvPr>
          <p:cNvSpPr txBox="1"/>
          <p:nvPr/>
        </p:nvSpPr>
        <p:spPr>
          <a:xfrm>
            <a:off x="471934" y="1499640"/>
            <a:ext cx="6031495" cy="3963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600" b="1" dirty="0">
                <a:latin typeface="Aptos Display" panose="020B0004020202020204" pitchFamily="34" charset="0"/>
              </a:rPr>
              <a:t>Step 2: Find suitable clothing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Browse available clothing listings.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Search and filter by relevant details such as category, size, and condition.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Open a listing to view its details.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Send an exchange request and track its status.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05075D-B859-2736-21D2-922E7E9ADC60}"/>
              </a:ext>
            </a:extLst>
          </p:cNvPr>
          <p:cNvCxnSpPr>
            <a:cxnSpLocks/>
          </p:cNvCxnSpPr>
          <p:nvPr/>
        </p:nvCxnSpPr>
        <p:spPr>
          <a:xfrm>
            <a:off x="6503429" y="1649532"/>
            <a:ext cx="0" cy="517849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6557169-4B05-87F0-488B-AFED6FD98222}"/>
              </a:ext>
            </a:extLst>
          </p:cNvPr>
          <p:cNvSpPr txBox="1"/>
          <p:nvPr/>
        </p:nvSpPr>
        <p:spPr>
          <a:xfrm>
            <a:off x="6630868" y="1649532"/>
            <a:ext cx="5173174" cy="3363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dirty="0">
                <a:latin typeface="Aptos Display" panose="020B0004020202020204" pitchFamily="34" charset="0"/>
              </a:rPr>
              <a:t>Request handling: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Store request information in MySQL.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Update the request status as it is processed.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Output: Organized clothing discovery and request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31D33F-5EDC-934D-3C8D-99174D8B20E4}"/>
              </a:ext>
            </a:extLst>
          </p:cNvPr>
          <p:cNvSpPr txBox="1"/>
          <p:nvPr/>
        </p:nvSpPr>
        <p:spPr>
          <a:xfrm>
            <a:off x="2761862" y="245736"/>
            <a:ext cx="6848669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B9F47E-EE73-A153-20F3-D5DE74F4B22C}"/>
              </a:ext>
            </a:extLst>
          </p:cNvPr>
          <p:cNvSpPr txBox="1"/>
          <p:nvPr/>
        </p:nvSpPr>
        <p:spPr>
          <a:xfrm>
            <a:off x="3828159" y="1008789"/>
            <a:ext cx="609805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C00000"/>
                </a:solidFill>
                <a:latin typeface="Aptos Display" panose="020B0004020202020204" pitchFamily="34" charset="0"/>
              </a:rPr>
              <a:t>3: ADMINISTRATION &amp; REUSE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87E7D-6983-6D87-41D9-5D90BCAF70DF}"/>
              </a:ext>
            </a:extLst>
          </p:cNvPr>
          <p:cNvSpPr txBox="1"/>
          <p:nvPr/>
        </p:nvSpPr>
        <p:spPr>
          <a:xfrm>
            <a:off x="445536" y="1368471"/>
            <a:ext cx="5809791" cy="5071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600" b="1" dirty="0">
                <a:latin typeface="Aptos Display" panose="020B0004020202020204" pitchFamily="34" charset="0"/>
              </a:rPr>
              <a:t>Step 3: Platform management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Admin reviews listings and reported content.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Manage user activity to support a reliable platform.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Users coordinate exchanges through listing and request information.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Reuse existing clothing instead of discarding it.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70AF054-52BE-E024-A102-E1A52AE3AC0E}"/>
              </a:ext>
            </a:extLst>
          </p:cNvPr>
          <p:cNvCxnSpPr>
            <a:cxnSpLocks/>
          </p:cNvCxnSpPr>
          <p:nvPr/>
        </p:nvCxnSpPr>
        <p:spPr>
          <a:xfrm>
            <a:off x="6339787" y="1679510"/>
            <a:ext cx="0" cy="517849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8FC5B1-863F-74B3-36E3-F84DAA8399B8}"/>
              </a:ext>
            </a:extLst>
          </p:cNvPr>
          <p:cNvSpPr txBox="1"/>
          <p:nvPr/>
        </p:nvSpPr>
        <p:spPr>
          <a:xfrm>
            <a:off x="6424248" y="1679510"/>
            <a:ext cx="5767752" cy="3363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sz="2400" dirty="0">
                <a:latin typeface="Aptos Display" panose="020B0004020202020204" pitchFamily="34" charset="0"/>
              </a:rPr>
              <a:t>Continuous improvement: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List → Discover → Request → Coordinate → Reuse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The platform supports community participation and more sustainable clothing habits.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AA874-8D33-97AB-A2B8-6F8A0DF8882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5A1A4-4E77-8983-605C-EACE95C1DF54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PROCESS MODEL</a:t>
            </a:r>
          </a:p>
        </p:txBody>
      </p:sp>
      <p:pic>
        <p:nvPicPr>
          <p:cNvPr id="9" name="Picture 8" descr="rewear_process.png"/>
          <p:cNvPicPr>
            <a:picLocks noChangeAspect="1"/>
          </p:cNvPicPr>
          <p:nvPr/>
        </p:nvPicPr>
        <p:blipFill>
          <a:blip r:embed="rId2"/>
          <a:srcRect t="1991" b="7575"/>
          <a:stretch>
            <a:fillRect/>
          </a:stretch>
        </p:blipFill>
        <p:spPr>
          <a:xfrm>
            <a:off x="4060721" y="892416"/>
            <a:ext cx="3903407" cy="5965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51760" y="210312"/>
            <a:ext cx="6903720" cy="521207"/>
          </a:xfrm>
          <a:prstGeom prst="round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/>
          <a:p>
            <a:pPr algn="ctr"/>
            <a:r>
              <a:rPr sz="3200" b="1">
                <a:solidFill>
                  <a:schemeClr val="bg1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828800"/>
            <a:ext cx="2057400" cy="1143000"/>
          </a:xfrm>
          <a:prstGeom prst="roundRect">
            <a:avLst/>
          </a:prstGeom>
          <a:solidFill>
            <a:srgbClr val="F8F5FA"/>
          </a:solidFill>
          <a:ln w="19050">
            <a:solidFill>
              <a:srgbClr val="7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0070"/>
                </a:solidFill>
                <a:latin typeface="Arial"/>
              </a:defRPr>
            </a:pPr>
            <a:r>
              <a:t>FRONTEND</a:t>
            </a:r>
          </a:p>
          <a:p>
            <a:pPr algn="ctr">
              <a:defRPr sz="1200">
                <a:solidFill>
                  <a:srgbClr val="2D2D37"/>
                </a:solidFill>
                <a:latin typeface="Arial"/>
              </a:defRPr>
            </a:pPr>
            <a:r>
              <a:t>HTML • CSS • JavaScript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828800"/>
            <a:ext cx="2057400" cy="1143000"/>
          </a:xfrm>
          <a:prstGeom prst="roundRect">
            <a:avLst/>
          </a:prstGeom>
          <a:solidFill>
            <a:srgbClr val="F8F5FA"/>
          </a:solidFill>
          <a:ln w="19050">
            <a:solidFill>
              <a:srgbClr val="7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0070"/>
                </a:solidFill>
                <a:latin typeface="Arial"/>
              </a:defRPr>
            </a:pPr>
            <a:r>
              <a:t>BACKEND</a:t>
            </a:r>
          </a:p>
          <a:p>
            <a:pPr algn="ctr">
              <a:defRPr sz="1200">
                <a:solidFill>
                  <a:srgbClr val="2D2D37"/>
                </a:solidFill>
                <a:latin typeface="Arial"/>
              </a:defRPr>
            </a:pPr>
            <a:r>
              <a:t>Python Flask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828800"/>
            <a:ext cx="2057400" cy="1143000"/>
          </a:xfrm>
          <a:prstGeom prst="roundRect">
            <a:avLst/>
          </a:prstGeom>
          <a:solidFill>
            <a:srgbClr val="F8F5FA"/>
          </a:solidFill>
          <a:ln w="19050">
            <a:solidFill>
              <a:srgbClr val="7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0070"/>
                </a:solidFill>
                <a:latin typeface="Arial"/>
              </a:defRPr>
            </a:pPr>
            <a:r>
              <a:t>DATABASE</a:t>
            </a:r>
          </a:p>
          <a:p>
            <a:pPr algn="ctr">
              <a:defRPr sz="1200">
                <a:solidFill>
                  <a:srgbClr val="2D2D37"/>
                </a:solidFill>
                <a:latin typeface="Arial"/>
              </a:defRPr>
            </a:pPr>
            <a:r>
              <a:t>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828800"/>
            <a:ext cx="2651760" cy="1143000"/>
          </a:xfrm>
          <a:prstGeom prst="roundRect">
            <a:avLst/>
          </a:prstGeom>
          <a:solidFill>
            <a:srgbClr val="F8F5FA"/>
          </a:solidFill>
          <a:ln w="19050">
            <a:solidFill>
              <a:srgbClr val="700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0070"/>
                </a:solidFill>
                <a:latin typeface="Arial"/>
              </a:defRPr>
            </a:pPr>
            <a:r>
              <a:t>IMAGE STORAGE</a:t>
            </a:r>
          </a:p>
          <a:p>
            <a:pPr algn="ctr">
              <a:defRPr sz="1200">
                <a:solidFill>
                  <a:srgbClr val="2D2D37"/>
                </a:solidFill>
                <a:latin typeface="Arial"/>
              </a:defRPr>
            </a:pPr>
            <a:r>
              <a:t>Local uploaded images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97480" y="2212848"/>
            <a:ext cx="438912" cy="320040"/>
          </a:xfrm>
          <a:prstGeom prst="rightArrow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5349240" y="2212848"/>
            <a:ext cx="438912" cy="320040"/>
          </a:xfrm>
          <a:prstGeom prst="rightArrow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3749039"/>
            <a:ext cx="4754880" cy="141732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05840" y="3749039"/>
            <a:ext cx="82296" cy="141732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3858768"/>
            <a:ext cx="44074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Development &amp; Version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315968"/>
            <a:ext cx="4407408" cy="75895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2D37"/>
                </a:solidFill>
                <a:latin typeface="Arial"/>
              </a:defRPr>
            </a:pPr>
            <a:r>
              <a:t>Git tracks code changes; GitHub hosts the project repository.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49039"/>
            <a:ext cx="4754880" cy="141732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3749039"/>
            <a:ext cx="82296" cy="141732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3858768"/>
            <a:ext cx="44074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315968"/>
            <a:ext cx="4407408" cy="75895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D2D37"/>
                </a:solidFill>
                <a:latin typeface="Arial"/>
              </a:defRPr>
            </a:pPr>
            <a:r>
              <a:t>Render is the planned hosting platform for the web application.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5657801"/>
            <a:ext cx="10241280" cy="41148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5A5A64"/>
                </a:solidFill>
                <a:latin typeface="Arial"/>
              </a:defRPr>
            </a:pPr>
            <a:r>
              <a:t>User actions → Frontend → Flask routes → MySQL / local image files</a:t>
            </a:r>
          </a:p>
        </p:txBody>
      </p:sp>
      <p:sp>
        <p:nvSpPr>
          <p:cNvPr id="19" name="Right Arrow 7">
            <a:extLst>
              <a:ext uri="{FF2B5EF4-FFF2-40B4-BE49-F238E27FC236}">
                <a16:creationId xmlns:a16="http://schemas.microsoft.com/office/drawing/2014/main" id="{5E2DB1BB-6ECD-9013-8719-AAD0250DDF39}"/>
              </a:ext>
            </a:extLst>
          </p:cNvPr>
          <p:cNvSpPr/>
          <p:nvPr/>
        </p:nvSpPr>
        <p:spPr>
          <a:xfrm>
            <a:off x="8033004" y="2258568"/>
            <a:ext cx="438912" cy="320040"/>
          </a:xfrm>
          <a:prstGeom prst="rightArrow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4EE3217-DB88-67AB-6B14-93762A8BB878}"/>
              </a:ext>
            </a:extLst>
          </p:cNvPr>
          <p:cNvSpPr/>
          <p:nvPr/>
        </p:nvSpPr>
        <p:spPr>
          <a:xfrm>
            <a:off x="4595446" y="1383323"/>
            <a:ext cx="3692771" cy="37044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2EACB5-FB51-F98D-837D-F75C2D15A21A}"/>
              </a:ext>
            </a:extLst>
          </p:cNvPr>
          <p:cNvSpPr/>
          <p:nvPr/>
        </p:nvSpPr>
        <p:spPr>
          <a:xfrm>
            <a:off x="281354" y="1383323"/>
            <a:ext cx="3622431" cy="3704492"/>
          </a:xfrm>
          <a:prstGeom prst="rect">
            <a:avLst/>
          </a:prstGeom>
          <a:solidFill>
            <a:srgbClr val="E9A5D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61DCC6-7BC6-B801-F1BE-96255851576E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E2B56-FC24-96D7-8B65-905220525357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TECHNICAL ASPECTS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8F573-F5C3-02F3-90BE-9934988B6576}"/>
              </a:ext>
            </a:extLst>
          </p:cNvPr>
          <p:cNvSpPr txBox="1"/>
          <p:nvPr/>
        </p:nvSpPr>
        <p:spPr>
          <a:xfrm>
            <a:off x="368210" y="1883894"/>
            <a:ext cx="3535575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rgbClr val="660066"/>
                </a:solidFill>
                <a:latin typeface="Arial"/>
              </a:rPr>
              <a:t>FRONTEND</a:t>
            </a:r>
            <a:endParaRPr sz="2400" b="1" dirty="0">
              <a:solidFill>
                <a:srgbClr val="660066"/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HTML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CSS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JavaScript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Responsive web pages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6DE6E-B5C3-594A-3D3E-009E267E9CC9}"/>
              </a:ext>
            </a:extLst>
          </p:cNvPr>
          <p:cNvSpPr txBox="1"/>
          <p:nvPr/>
        </p:nvSpPr>
        <p:spPr>
          <a:xfrm>
            <a:off x="4984705" y="1883894"/>
            <a:ext cx="2914251" cy="2257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4">
                    <a:lumMod val="50000"/>
                  </a:schemeClr>
                </a:solidFill>
                <a:latin typeface="Arial"/>
              </a:rPr>
              <a:t>BACKEND</a:t>
            </a:r>
            <a:endParaRPr sz="2400" b="1" dirty="0">
              <a:solidFill>
                <a:schemeClr val="accent4">
                  <a:lumMod val="50000"/>
                </a:schemeClr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Python Flask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REST endpoints / routes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MySQL database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Local image storage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3EB143-9106-A962-34AB-E3C67A8C2D3E}"/>
              </a:ext>
            </a:extLst>
          </p:cNvPr>
          <p:cNvSpPr/>
          <p:nvPr/>
        </p:nvSpPr>
        <p:spPr>
          <a:xfrm>
            <a:off x="8745415" y="1383323"/>
            <a:ext cx="3446585" cy="37044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E5A6C-2C1D-162D-E20E-1E100EFD03B1}"/>
              </a:ext>
            </a:extLst>
          </p:cNvPr>
          <p:cNvSpPr txBox="1"/>
          <p:nvPr/>
        </p:nvSpPr>
        <p:spPr>
          <a:xfrm>
            <a:off x="8883068" y="1622307"/>
            <a:ext cx="3377758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accent2">
                    <a:lumMod val="50000"/>
                  </a:schemeClr>
                </a:solidFill>
                <a:latin typeface="Arial"/>
              </a:rPr>
              <a:t>CORE TECHNOLOGIES</a:t>
            </a:r>
            <a:endParaRPr sz="2400" b="1" dirty="0">
              <a:solidFill>
                <a:schemeClr val="accent2">
                  <a:lumMod val="50000"/>
                </a:schemeClr>
              </a:solidFill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HTML, CSS, JavaScript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Python Flask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MySQL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Git and GitHub</a:t>
            </a:r>
          </a:p>
          <a:p>
            <a:pPr algn="ctr">
              <a:lnSpc>
                <a:spcPct val="150000"/>
              </a:lnSpc>
            </a:pPr>
            <a:r>
              <a:rPr dirty="0">
                <a:latin typeface="Arial"/>
              </a:rPr>
              <a:t>Render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45283" y="190809"/>
            <a:ext cx="8094898" cy="646986"/>
          </a:xfrm>
          <a:prstGeom prst="round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/>
          <a:p>
            <a:pPr algn="ctr"/>
            <a:r>
              <a:rPr sz="3200" b="1" dirty="0">
                <a:solidFill>
                  <a:schemeClr val="bg1"/>
                </a:solidFill>
                <a:latin typeface="Arial"/>
              </a:rPr>
              <a:t>EXPECTED OUTCOMES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5212080" cy="155448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82296" cy="155448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344168"/>
            <a:ext cx="48646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Environmental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801368"/>
            <a:ext cx="4864608" cy="89611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Encourages reuse of wearable clothing and helps reduce unnecessary textile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212080" cy="155448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82296" cy="1554480"/>
          </a:xfrm>
          <a:prstGeom prst="rect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1344168"/>
            <a:ext cx="48646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00070"/>
                </a:solidFill>
                <a:latin typeface="Arial"/>
              </a:defRPr>
            </a:pPr>
            <a:r>
              <a:t>Community Exchange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801368"/>
            <a:ext cx="4864608" cy="89611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Connects people who want to give, receive, or exchange pre-owned clothing.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5212080" cy="155448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82296" cy="1554480"/>
          </a:xfrm>
          <a:prstGeom prst="rect">
            <a:avLst/>
          </a:prstGeom>
          <a:solidFill>
            <a:srgbClr val="36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264408"/>
            <a:ext cx="48646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6785A"/>
                </a:solidFill>
                <a:latin typeface="Arial"/>
              </a:defRPr>
            </a:pPr>
            <a:r>
              <a:t>Affordability &amp;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721608"/>
            <a:ext cx="4864608" cy="89611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Makes available clothing easier to discover through searchable listings.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12080" cy="1554480"/>
          </a:xfrm>
          <a:prstGeom prst="roundRect">
            <a:avLst/>
          </a:prstGeom>
          <a:solidFill>
            <a:srgbClr val="F8F5FA"/>
          </a:solidFill>
          <a:ln w="12700">
            <a:solidFill>
              <a:srgbClr val="DC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82296" cy="1554480"/>
          </a:xfrm>
          <a:prstGeom prst="rect">
            <a:avLst/>
          </a:prstGeom>
          <a:solidFill>
            <a:srgbClr val="700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8" y="3264408"/>
            <a:ext cx="4864608" cy="384048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700070"/>
                </a:solidFill>
                <a:latin typeface="Arial"/>
              </a:defRPr>
            </a:pPr>
            <a:r>
              <a:t>Organized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721608"/>
            <a:ext cx="4864608" cy="896112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D2D37"/>
                </a:solidFill>
                <a:latin typeface="Arial"/>
              </a:defRPr>
            </a:pPr>
            <a:r>
              <a:t>Provides listing details and request statuses to help users manage exchanges.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57800"/>
            <a:ext cx="10149840" cy="54864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D2D37"/>
                </a:solidFill>
                <a:latin typeface="Arial"/>
              </a:defRPr>
            </a:pPr>
            <a:r>
              <a:t>Expected benefit: a simple digital platform that supports sustainable fashion and responsible reuse.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E8C0-8489-F8EF-3810-BD067621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C2C2EB-F9E6-0B82-05D3-C3081D8F938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F615B-31FC-5EF3-B49E-C441BBB89A4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>
                <a:latin typeface="Arial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262CF-E69F-F0DC-DAFA-45B88A145DE8}"/>
              </a:ext>
            </a:extLst>
          </p:cNvPr>
          <p:cNvSpPr txBox="1"/>
          <p:nvPr/>
        </p:nvSpPr>
        <p:spPr>
          <a:xfrm>
            <a:off x="1019907" y="1029187"/>
            <a:ext cx="10152184" cy="447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 err="1">
                <a:latin typeface="Aptos Display" panose="020B0004020202020204" pitchFamily="34" charset="0"/>
              </a:rPr>
              <a:t>ReWear</a:t>
            </a:r>
            <a:r>
              <a:rPr sz="2400" dirty="0">
                <a:latin typeface="Aptos Display" panose="020B0004020202020204" pitchFamily="34" charset="0"/>
              </a:rPr>
              <a:t> provides a centralized space for community clothing exchange and reuse.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Users can upload, discover, and request pre-owned clothing.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Search and filtering make item discovery easier.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Request tracking helps organize exchanges.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Administrative tools support listing and user management.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The platform promotes sustainable fashion and helps reduce textile waste.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400" dirty="0">
                <a:latin typeface="Aptos Display" panose="020B0004020202020204" pitchFamily="34" charset="0"/>
              </a:rPr>
              <a:t>Built using HTML, CSS, JavaScript, Python Flask, and MySQL.</a:t>
            </a:r>
          </a:p>
        </p:txBody>
      </p:sp>
    </p:spTree>
    <p:extLst>
      <p:ext uri="{BB962C8B-B14F-4D97-AF65-F5344CB8AC3E}">
        <p14:creationId xmlns:p14="http://schemas.microsoft.com/office/powerpoint/2010/main" val="2336768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66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dirty="0">
                <a:latin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872</TotalTime>
  <Words>835</Words>
  <Application>Microsoft Office PowerPoint</Application>
  <PresentationFormat>Widescreen</PresentationFormat>
  <Paragraphs>143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 Display</vt:lpstr>
      <vt:lpstr>Arial</vt:lpstr>
      <vt:lpstr>Calibri</vt:lpstr>
      <vt:lpstr>Calibri Light</vt:lpstr>
      <vt:lpstr>Candara</vt:lpstr>
      <vt:lpstr>Times New Roman</vt:lpstr>
      <vt:lpstr>Office Theme</vt:lpstr>
      <vt:lpstr>ReWear: Community-Based Clothing Exchange and Reuse Platform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Masuma Fathema</cp:lastModifiedBy>
  <cp:revision>38</cp:revision>
  <dcterms:created xsi:type="dcterms:W3CDTF">2024-08-29T05:25:00Z</dcterms:created>
  <dcterms:modified xsi:type="dcterms:W3CDTF">2026-10-29T17:22:45Z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